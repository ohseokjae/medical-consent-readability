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한국어 임상시험 동의서의</a:t>
            </a:r>
            <a:br/>
            <a:r>
              <a:t>가독성 자동 평가 및 AI 기반 평이화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C3C7"/>
                </a:solidFill>
                <a:latin typeface="Apple SD Gothic Neo"/>
              </a:defRPr>
            </a:pPr>
            <a:r>
              <a:t>Automated Readability Assessment and AI-based Simplification</a:t>
            </a:r>
            <a:br/>
            <a:r>
              <a:t>for Korean Informed Consent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7AE60"/>
                </a:solidFill>
                <a:latin typeface="Apple SD Gothic Neo"/>
              </a:defRPr>
            </a:pPr>
            <a:r>
              <a:t>Phase 1: 파이프라인 구축 및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임상시험 동의서(ICF)는 참여자의 자기결정권 보장의 핵심 문서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미국 ICF 평균 가독성: 10.6학년 — 권장 기준(≤8학년) 초과 [Paasche-Orlow, NEJM 2003]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국내 ICF: 평이한 어휘 12% 부족, 전문용어 4.5% 과다 [최임순 외, 2016]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참여자가 기본 개념(무작위배정, 위약)을 충분히 이해하지 못함 [Park et al., 2019]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문제: 한국어 ICF의 가독성을 정량적으로 평가하고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        자동으로 개선하는 체계적 연구가 부족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연구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1. 한국어 이독성 공식 기반 ICF 가독성 자동 측정 프레임워크 개발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2. 의학 전문용어 난이도 세분화 분석 (MedReadMe 방법론 차용)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3. KGCP 20개 필수항목 완전성 자동 평가 (KoBERT)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4. GPT-4o 기반 동의서 평이화 및 효과 검증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pple SD Gothic Neo"/>
              </a:defRPr>
            </a:pPr>
            <a:r>
              <a:t>목표: 수집 → 분석 → 평이화 → 평가 end-to-end 파이프라인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전체 파이프라인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280160" cy="3657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Step 1</a:t>
            </a:r>
          </a:p>
          <a:p>
            <a:br/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CRIS 데이터 수집</a:t>
            </a:r>
          </a:p>
          <a:p>
            <a:br/>
            <a:pPr algn="ctr">
              <a:defRPr sz="900">
                <a:solidFill>
                  <a:srgbClr val="ECF0F1"/>
                </a:solidFill>
                <a:latin typeface="Apple SD Gothic Neo"/>
              </a:defRPr>
            </a:pPr>
            <a:r>
              <a:t>공공데이터 API</a:t>
            </a:r>
            <a:br/>
            <a:r>
              <a:t>중재연구 8,785건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1645920"/>
            <a:ext cx="1280160" cy="3657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Step 2</a:t>
            </a:r>
          </a:p>
          <a:p>
            <a:br/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모의 ICF 생성</a:t>
            </a:r>
          </a:p>
          <a:p>
            <a:br/>
            <a:pPr algn="ctr">
              <a:defRPr sz="900">
                <a:solidFill>
                  <a:srgbClr val="ECF0F1"/>
                </a:solidFill>
                <a:latin typeface="Apple SD Gothic Neo"/>
              </a:defRPr>
            </a:pPr>
            <a:r>
              <a:t>GPT-4o 배치 분할</a:t>
            </a:r>
            <a:br/>
            <a:r>
              <a:t>50건, 평균 10,912자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1280160" cy="3657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Step 3</a:t>
            </a:r>
          </a:p>
          <a:p>
            <a:br/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가독성 분석</a:t>
            </a:r>
          </a:p>
          <a:p>
            <a:br/>
            <a:pPr algn="ctr">
              <a:defRPr sz="900">
                <a:solidFill>
                  <a:srgbClr val="ECF0F1"/>
                </a:solidFill>
                <a:latin typeface="Apple SD Gothic Neo"/>
              </a:defRPr>
            </a:pPr>
            <a:r>
              <a:t>이독성 공식 + 전문용어</a:t>
            </a:r>
            <a:br/>
            <a:r>
              <a:t>종합 점수 (0-100)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645920"/>
            <a:ext cx="1280160" cy="3657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Step 4</a:t>
            </a:r>
          </a:p>
          <a:p>
            <a:br/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완전성 분류</a:t>
            </a:r>
          </a:p>
          <a:p>
            <a:br/>
            <a:pPr algn="ctr">
              <a:defRPr sz="900">
                <a:solidFill>
                  <a:srgbClr val="ECF0F1"/>
                </a:solidFill>
                <a:latin typeface="Apple SD Gothic Neo"/>
              </a:defRPr>
            </a:pPr>
            <a:r>
              <a:t>KoBERT multi-label</a:t>
            </a:r>
            <a:br/>
            <a:r>
              <a:t>F1 = 0.81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1280160" cy="3657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Step 5</a:t>
            </a:r>
          </a:p>
          <a:p>
            <a:br/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평이화</a:t>
            </a:r>
          </a:p>
          <a:p>
            <a:br/>
            <a:pPr algn="ctr">
              <a:defRPr sz="900">
                <a:solidFill>
                  <a:srgbClr val="ECF0F1"/>
                </a:solidFill>
                <a:latin typeface="Apple SD Gothic Neo"/>
              </a:defRPr>
            </a:pPr>
            <a:r>
              <a:t>GPT-4o</a:t>
            </a:r>
            <a:br/>
            <a:r>
              <a:t>학년 11.0 → 7.1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45920"/>
            <a:ext cx="1280160" cy="3657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pple SD Gothic Neo"/>
              </a:defRPr>
            </a:pPr>
            <a:r>
              <a:t>Step 6</a:t>
            </a:r>
          </a:p>
          <a:p>
            <a:br/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평가 리포트</a:t>
            </a:r>
          </a:p>
          <a:p>
            <a:br/>
            <a:pPr algn="ctr">
              <a:defRPr sz="900">
                <a:solidFill>
                  <a:srgbClr val="ECF0F1"/>
                </a:solidFill>
                <a:latin typeface="Apple SD Gothic Neo"/>
              </a:defRPr>
            </a:pPr>
            <a:r>
              <a:t>시각화 + 종합 보고서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가독성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이독성 공식 [이순영, 2017]: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  학년 수준 = 4.874 + 0.591 × 평균 문장 길이 − 9.201 × 쉬운 단어 비율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개별 지표 (3개 레이어):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  A. 문장 지표: 평균/최장 문장 길이, 절 수 (MeCab-ko)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  B. 어휘 지표: 쉬운 단어 비율 (국립국어원 기초어휘), 한자어 비율, TTR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  C. 전문용어: 사전 매칭 + MedReadMe 4단계 세분화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종합 점수 (0-100, 높을수록 쉬움):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  학년 수준 30% + 쉬운 단어 25% + 문장 길이 20% + 전문용어 15% + 한자어 10%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Apple SD Gothic Neo"/>
              </a:defRPr>
            </a:pPr>
            <a:r>
              <a:t>등급: Easy (≤중2, 70-100) | Moderate (고교, 40-69) | Difficult (대학+, 0-39)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결과 1: 원문 ICF 가독성 (N=50)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SD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이독성 공식 학년 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10.05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8.7 – 11.3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종합 가독성 점수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64.38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1.89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60.2 – 68.5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평균 문장 길이 (어절)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12.94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쉬운 단어 비율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0.269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전문용어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한자어 비율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0.069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Apple SD Gothic Neo"/>
              </a:defRPr>
            </a:pPr>
            <a:r>
              <a:t>• 50건 전체 Moderate(고교 수준) — ICF 권장 기준(≤8학년) 평균 2.05학년 초과</a:t>
            </a:r>
            <a:br/>
            <a:r>
              <a:t>• Paasche-Orlow(2003)의 미국 ICF 평균(10.6학년)과 유사한 패턴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결과 2: 원문 ICF 가독성 분포</a:t>
            </a:r>
          </a:p>
        </p:txBody>
      </p:sp>
      <p:pic>
        <p:nvPicPr>
          <p:cNvPr id="3" name="Picture 2" descr="fig1_g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결과 3: KGCP 섹션별 난이도</a:t>
            </a:r>
          </a:p>
        </p:txBody>
      </p:sp>
      <p:pic>
        <p:nvPicPr>
          <p:cNvPr id="3" name="Picture 2" descr="fig2_section_diffi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결과 4: KGCP 완전성 분류 (KoBERT)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5486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KoBERT (monologg/kobert, 92.2M)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학습 데이터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990개 섹션 + 200개 mixed = 1,190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micro F1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Precision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Recall (macro)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평균 완전성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98.4%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20/20 완전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Apple SD Gothic Neo"/>
                        </a:defRPr>
                      </a:pPr>
                      <a:r>
                        <a:t>42/50건 (84%)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ple SD Gothic Neo"/>
              </a:defRPr>
            </a:pPr>
            <a:r>
              <a:t>핵심 결과: 평이화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  <a:latin typeface="Apple SD Gothic Neo"/>
              </a:defRPr>
            </a:pPr>
            <a:r>
              <a:t>↓ 3.92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학년 감소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pple SD Gothic Neo"/>
              </a:defRPr>
            </a:pPr>
            <a:r>
              <a:t>11.03 → 7.10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  <a:latin typeface="Apple SD Gothic Neo"/>
              </a:defRPr>
            </a:pPr>
            <a:r>
              <a:t>+ 15.9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점수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pple SD Gothic Neo"/>
              </a:defRPr>
            </a:pPr>
            <a:r>
              <a:t>종합 가독성 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  <a:latin typeface="Apple SD Gothic Neo"/>
              </a:defRPr>
            </a:pPr>
            <a:r>
              <a:t>79.0%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ple SD Gothic Neo"/>
              </a:defRPr>
            </a:pPr>
            <a:r>
              <a:t>목표 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pple SD Gothic Neo"/>
              </a:defRPr>
            </a:pPr>
            <a:r>
              <a:t>≤8학년 도달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  <a:latin typeface="Apple SD Gothic Neo"/>
              </a:defRPr>
            </a:pPr>
            <a:r>
              <a:t>GPT-4o 기반 평이화로 ICF 국제 권장 기준(≤8학년) 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결과 5: 섹션별 평이화 전후 비교</a:t>
            </a:r>
          </a:p>
        </p:txBody>
      </p:sp>
      <p:pic>
        <p:nvPicPr>
          <p:cNvPr id="3" name="Picture 2" descr="fig3_simplific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결과 6: ICF별 평이화 전후 학년 수준</a:t>
            </a:r>
          </a:p>
        </p:txBody>
      </p:sp>
      <p:pic>
        <p:nvPicPr>
          <p:cNvPr id="3" name="Picture 2" descr="fig4_score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Apple SD Gothic Neo"/>
              </a:defRPr>
            </a:pPr>
            <a:r>
              <a:t>평이화 예시: [unverified_trial] 학년 15.9 →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Apple SD Gothic Neo"/>
              </a:defRPr>
            </a:pPr>
            <a:r>
              <a:t>원문 (학년 15.9)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Apple SD Gothic Neo"/>
              </a:defRPr>
            </a:pPr>
            <a:r>
              <a:t>이 연구에 사용되는 의료기구는 현재 상용화되지 않았으며, 이에 대한 효과와 안전성이 완전히 검증되지 않았다는 점을 설명 드립니다. 기존의 치료 표준에 비해 본 연구의 기구가 보다 나은 치료 효과를 제공할 수 있다는 기대가 있으나, 이는 실험적 과정을 통해 검증 중에 있으며, 그 과정에서 해당 기구의 실제 효능이나 잠재적인 위험을 구체적으로 밝혀낼 필요가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Apple SD Gothic Neo"/>
              </a:defRPr>
            </a:pPr>
            <a:r>
              <a:t>평이화 (학년 6.3)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Apple SD Gothic Neo"/>
              </a:defRPr>
            </a:pPr>
            <a:r>
              <a:t>이 기기는 아직 판매되지 않고, 효과나 안전성이 완전히 확인되지 않았습니다. 기존 치료보다 나은 효과가 있을 것으로 기대합니다. 하지만 실험을 통해 자세히 검증하고 있습니다. 이 과정에서 기기의 실제 효과와 위험성을 알아내야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Apple SD Gothic Neo"/>
              </a:defRPr>
            </a:pPr>
            <a:r>
              <a:t>• 긴 문장 → 짧은 문장 분리  • 전문 표현 → 쉬운 우리말  • 피동 → 능동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Apple SD Gothic Neo"/>
              </a:defRPr>
            </a:pPr>
            <a:r>
              <a:t>한계 및 향후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[한계]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시드 사전 규모: 기초어휘 516어, 의학용어 248어 (목표: 4만 + 76,733어)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모의 ICF 기반 분석 — 실제 IRB 동의서와 차이 가능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평이화 품질에 대한 전문가 평가(human evaluation) 미수행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KoBERT 학습 데이터 50건 — 실제 동의서 다양성 미포착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[Phase 2 계획]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실제 IRB 동의서 확보 (기관 협조)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국립국어원 전체 기초어휘 목록 + 의학용어집 연동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평이화 품질 전문가 평가 (내용 보존율)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pple SD Gothic Neo"/>
              </a:defRPr>
            </a:pPr>
            <a:r>
              <a:t>• 논문 투고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ple SD Gothic Neo"/>
              </a:defRPr>
            </a:pPr>
            <a: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ple SD Gothic Neo"/>
              </a:defRPr>
            </a:pPr>
            <a:r>
              <a:t>1. 한국어 ICF 가독성 = 평균 10.05학년 (고교 수준)</a:t>
            </a:r>
            <a:br/>
            <a:r>
              <a:t>   → ICF 국제 권장 기준(≤8학년) 2.05학년 초과</a:t>
            </a:r>
            <a:br/>
            <a:br/>
            <a:r>
              <a:t>2. GPT-4o 평이화로 학년 3.92 감소 → 평균 7.10학년 달성</a:t>
            </a:r>
            <a:br/>
            <a:r>
              <a:t>   → 79% 섹션이 목표 수준 도달</a:t>
            </a:r>
            <a:br/>
            <a:br/>
            <a:r>
              <a:t>3. KoBERT 완전성 분류 macro F1 = 0.81</a:t>
            </a:r>
            <a:br/>
            <a:br/>
            <a:r>
              <a:t>4. 수집-분석-평이화-평가 end-to-end 자동화 파이프라인 실현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  <a:latin typeface="Apple SD Gothic Neo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